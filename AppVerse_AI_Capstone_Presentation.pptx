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A3C8B8-A0D7-C54F-6DE5-F81C4749E265}" v="9" dt="2026-06-17T21:57:11.9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E84533-6DA0-4016-8484-E1EB292A5A78}" type="datetimeFigureOut"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2838BE-FD00-43A8-91E6-060B85A91AC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93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D87C2D-F5AA-71DE-A5CE-2ED506F4DA70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2223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 - General Use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828800"/>
            <a:ext cx="6400800" cy="64008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A78BFA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2D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 ·  JAVA FULL STACK DEVELOPMENT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AppVerse AI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App Marketplace &amp; AI-Powered Analytics Platform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02336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marketplace combining Spring Boot microservices, React,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security, and Gemini AI for recommendations, sentiment analysis, and chat assistance.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5120640"/>
            <a:ext cx="2377440" cy="502920"/>
          </a:xfrm>
          <a:prstGeom prst="rect">
            <a:avLst/>
          </a:prstGeom>
          <a:solidFill>
            <a:srgbClr val="11162B"/>
          </a:solidFill>
          <a:ln w="12700">
            <a:solidFill>
              <a:srgbClr val="2A2F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1206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512064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11162B"/>
          </a:solidFill>
          <a:ln w="12700">
            <a:solidFill>
              <a:srgbClr val="2A2F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5120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512064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11162B"/>
          </a:solidFill>
          <a:ln w="12700">
            <a:solidFill>
              <a:srgbClr val="2A2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0" y="5120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35240" y="5120640"/>
            <a:ext cx="2103120" cy="502920"/>
          </a:xfrm>
          <a:prstGeom prst="roundRect">
            <a:avLst>
              <a:gd name="adj" fmla="val 14545"/>
            </a:avLst>
          </a:prstGeom>
          <a:solidFill>
            <a:srgbClr val="11162B"/>
          </a:solidFill>
          <a:ln w="12700">
            <a:solidFill>
              <a:srgbClr val="2A2F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35240" y="51206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>
                <a:solidFill>
                  <a:srgbClr val="8A90B5"/>
                </a:solidFill>
                <a:latin typeface="Calibri"/>
                <a:ea typeface="Calibri"/>
                <a:cs typeface="Calibri"/>
              </a:rPr>
              <a:t>Gopidi Anugna</a:t>
            </a:r>
            <a:r>
              <a:rPr lang="en-US" sz="1200" dirty="0">
                <a:solidFill>
                  <a:srgbClr val="8A90B5"/>
                </a:solidFill>
                <a:latin typeface="Calibri"/>
                <a:ea typeface="Calibri"/>
                <a:cs typeface="Calibri"/>
              </a:rPr>
              <a:t> Reddy   |   Java Full Stack Development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404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complete app marketplace — like a mini Google Play Store — where developers publish apps, users discover and review them, and an AI layer powers recommendations, sentiment analysis, and a conversational assistant.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30352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32918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326440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Marketplace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84048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experiences for User, Developer, and Admin with JWT-secured REST APIs.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3063240"/>
            <a:ext cx="530352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55080" y="32918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95160" y="326440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Recommendation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55080" y="384048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suggestions using collaborative + content-based filtering.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530352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51206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120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509320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&amp; Moderation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566928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review sentiment detection, rating prediction, fake-review flagging.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26480" y="4892040"/>
            <a:ext cx="530352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55080" y="51206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5120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95160" y="509320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355080" y="566928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downloads, revenue, and engagement insights for developers.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Core Modules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5623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User Roles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30175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USER / DEVELOPER / ADMIN roles, secure password hashing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169164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85623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99432" y="24231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Marketplace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30175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Browse, category filters, search, ratings &amp; reviews, price sorting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93024" y="169164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21624" y="185623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421624" y="24231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Recommendation Engine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21624" y="30175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suggestions, similar-app prediction, trending analysis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2793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77240" y="48463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Console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77240" y="54406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Upload/manage apps, version control, release notes, download analytics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70832" y="411480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42793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599432" y="48463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 Sentiment Analysis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99432" y="54406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Positive/negative detection, rating prediction, fake-review flagging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93024" y="411480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21624" y="42793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366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421624" y="48463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421624" y="54406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trend, revenue insights, user engagement reports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a Modern Full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" cy="5486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017520" y="1737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18, React Router v6, Axios, Recharts, Lucide Icons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50592"/>
            <a:ext cx="109728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50592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245059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3.2, Spring Security, Spring Data JPA, Swagger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163824"/>
            <a:ext cx="109728" cy="5486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63824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316382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with normalized relational schema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77056"/>
            <a:ext cx="109728" cy="54864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877056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17520" y="3877056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JWT-based stateless authentication, role-based access control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90288"/>
            <a:ext cx="109728" cy="54864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590288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017520" y="4590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 for chat + rule-based ML for sentiment/ratings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09728" cy="5486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3035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017520" y="53035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5, Mockito, AssertJ — service-layer unit tests with H2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architecture: Client → Security → Controller → Service (Design Patterns) → Repository → Database</a:t>
            </a:r>
            <a:endParaRPr lang="en-US" sz="1250" dirty="0"/>
          </a:p>
        </p:txBody>
      </p:sp>
      <p:pic>
        <p:nvPicPr>
          <p:cNvPr id="5" name="Image 0" descr="/home/claude/appverse-docs/diagrams/architecture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80160" y="1600200"/>
            <a:ext cx="9601200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Entity-Relationship Diagram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relational schema: User, App, Review, Download, and AppVersion entities with their key relationships</a:t>
            </a:r>
            <a:endParaRPr lang="en-US" sz="1250" dirty="0"/>
          </a:p>
        </p:txBody>
      </p:sp>
      <p:pic>
        <p:nvPicPr>
          <p:cNvPr id="5" name="Image 0" descr="/home/claude/appverse-docs/diagrams/er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20240" y="1600200"/>
            <a:ext cx="8321040" cy="4892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OBJECT-ORIENTED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Class Diagram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domain classes plus Strategy and Observer design pattern implementations</a:t>
            </a:r>
            <a:endParaRPr lang="en-US" sz="1250" dirty="0"/>
          </a:p>
        </p:txBody>
      </p:sp>
      <p:pic>
        <p:nvPicPr>
          <p:cNvPr id="5" name="Image 0" descr="/home/claude/appverse-docs/diagrams/class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45920"/>
            <a:ext cx="10881360" cy="4343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(Level 1)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moves between users, core processes, the Gemini AI service, and data stores</a:t>
            </a:r>
            <a:endParaRPr lang="en-US" sz="1250" dirty="0"/>
          </a:p>
        </p:txBody>
      </p:sp>
      <p:pic>
        <p:nvPicPr>
          <p:cNvPr id="5" name="Image 0" descr="/home/claude/appverse-docs/diagrams/dfd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331720" y="1600200"/>
            <a:ext cx="7498080" cy="4892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Patterns Implemented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92808"/>
            <a:ext cx="384048" cy="384048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0487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807208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2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Swaps recommendation algorithm at runtime — Trending for new users, Top-Rated for active users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4370832" y="169164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89280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240487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99432" y="2807208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2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Notifies developer + audit log automatically when an app's approval status changes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8193024" y="169164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21624" y="189280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421624" y="240487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21624" y="2807208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2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Centralizes creation of chatbot response objects (success, error, fallback, greeting)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8280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5230368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2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Simplifies complex multi-service calls for homepage, app-detail, and dashboard data loading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4370832" y="411480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9432" y="4315968"/>
            <a:ext cx="384048" cy="384048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2" name="Text 20"/>
          <p:cNvSpPr/>
          <p:nvPr/>
        </p:nvSpPr>
        <p:spPr>
          <a:xfrm>
            <a:off x="4599432" y="48280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99432" y="5230368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2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Lombok @Builder across all entities and DTOs for safe, immutable object construction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8193024" y="411480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1162B"/>
          </a:solidFill>
          <a:ln w="12700">
            <a:solidFill>
              <a:srgbClr val="262B4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21624" y="4315968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/>
          <p:nvPr/>
        </p:nvSpPr>
        <p:spPr>
          <a:xfrm>
            <a:off x="8421624" y="48280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21624" y="5230368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2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Spring @Service and @Component beans are managed as singletons by the IoC container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Features Across the Platform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92808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83794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AppBot Chat Assistant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35000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Gemini-powered conversational assistant with rule-based fallback when no API key is configured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53328" y="169164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81928" y="1892808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830568" y="183794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Recommendations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81928" y="235000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collaborative + content-based filtering tailored to each user's activity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264408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46557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34107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922776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rating-weighted classification of reviews into positive / neutral / negative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53328" y="3264408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81928" y="346557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6830568" y="34107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Prediction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81928" y="3922776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star rating implied by review text, flags mismatches with the given rating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837176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03834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1325880" y="49834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Review Detection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495544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Heuristics for short extreme reviews, sentiment mismatch, and spammy text patterns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53328" y="4837176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01600" dist="25400" dir="5400000" algn="bl" rotWithShape="0">
              <a:srgbClr val="1A1D2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81928" y="503834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830568" y="49834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Prediction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81928" y="5495544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growth forecasting using rating and category growth coefficients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SECURITY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Testing Approach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JWT-based stateless authentication on every protected endpoint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85292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 — plaintext passwords never stored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419856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@PreAuthorize role checks (USER / DEVELOPER / ADMIN) at the service layer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986784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configuration restricting allowed origins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55371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exception handling via @RestControllerAdvice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1737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09360" y="22860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+ Mockito + AssertJ for service-layer unit tests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309360" y="285292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database isolates tests from production data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09360" y="3419856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CRUD operations, ownership checks, role assignment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09360" y="3986784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classification and duplicate-review detection tests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09360" y="455371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Mocked repositories verify business logic independent of persistence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AppVerse AI  |  Java Full Stack Capstone Project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6366F1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AppVerse AI delivers a complete,</a:t>
            </a:r>
            <a:endParaRPr lang="en-US" sz="34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production-style marketplace.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secure role-based access to an AI recommendation engine, sentiment-aware reviews, and a live analytics dashboard — every capstone module is implemented, integrated, and tested end-to-end across a Spring Boot + React stack.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754880"/>
            <a:ext cx="2423160" cy="502920"/>
          </a:xfrm>
          <a:prstGeom prst="roundRect">
            <a:avLst>
              <a:gd name="adj" fmla="val 14545"/>
            </a:avLst>
          </a:prstGeom>
          <a:solidFill>
            <a:srgbClr val="11162B"/>
          </a:solidFill>
          <a:ln w="12700">
            <a:solidFill>
              <a:srgbClr val="2A2F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7548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Core Modules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4754880"/>
            <a:ext cx="2423160" cy="502920"/>
          </a:xfrm>
          <a:prstGeom prst="roundRect">
            <a:avLst>
              <a:gd name="adj" fmla="val 14545"/>
            </a:avLst>
          </a:prstGeom>
          <a:solidFill>
            <a:srgbClr val="11162B"/>
          </a:solidFill>
          <a:ln w="12700">
            <a:solidFill>
              <a:srgbClr val="2A2F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47548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Design Patterns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4754880"/>
            <a:ext cx="2423160" cy="502920"/>
          </a:xfrm>
          <a:prstGeom prst="roundRect">
            <a:avLst>
              <a:gd name="adj" fmla="val 14545"/>
            </a:avLst>
          </a:prstGeom>
          <a:solidFill>
            <a:srgbClr val="11162B"/>
          </a:solidFill>
          <a:ln w="12700">
            <a:solidFill>
              <a:srgbClr val="2A2F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47548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Throughout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41080" y="4754880"/>
            <a:ext cx="2423160" cy="502920"/>
          </a:xfrm>
          <a:prstGeom prst="roundRect">
            <a:avLst>
              <a:gd name="adj" fmla="val 14545"/>
            </a:avLst>
          </a:prstGeom>
          <a:solidFill>
            <a:srgbClr val="11162B"/>
          </a:solidFill>
          <a:ln w="12700">
            <a:solidFill>
              <a:srgbClr val="2A2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41080" y="47548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Tested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A90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AppVerse AI - Smart App Marketplace &amp; Analytics Platform</dc:title>
  <dc:subject>PptxGenJS Presentation</dc:subject>
  <dc:creator>Lil Anugna Reddy</dc:creator>
  <cp:lastModifiedBy>Lil Anugna Reddy</cp:lastModifiedBy>
  <cp:revision>7</cp:revision>
  <dcterms:created xsi:type="dcterms:W3CDTF">2026-06-17T10:43:30Z</dcterms:created>
  <dcterms:modified xsi:type="dcterms:W3CDTF">2026-06-17T21:57:31Z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8c544ca-bb84-4280-906e-934547e1d30c_Enabled">
    <vt:lpwstr>true</vt:lpwstr>
  </property>
  <property fmtid="{D5CDD505-2E9C-101B-9397-08002B2CF9AE}" pid="3" name="MSIP_Label_a8c544ca-bb84-4280-906e-934547e1d30c_SetDate">
    <vt:lpwstr>2026-06-17T21:56:47Z</vt:lpwstr>
  </property>
  <property fmtid="{D5CDD505-2E9C-101B-9397-08002B2CF9AE}" pid="4" name="MSIP_Label_a8c544ca-bb84-4280-906e-934547e1d30c_Method">
    <vt:lpwstr>Privileged</vt:lpwstr>
  </property>
  <property fmtid="{D5CDD505-2E9C-101B-9397-08002B2CF9AE}" pid="5" name="MSIP_Label_a8c544ca-bb84-4280-906e-934547e1d30c_Name">
    <vt:lpwstr>Internal - General Use</vt:lpwstr>
  </property>
  <property fmtid="{D5CDD505-2E9C-101B-9397-08002B2CF9AE}" pid="6" name="MSIP_Label_a8c544ca-bb84-4280-906e-934547e1d30c_SiteId">
    <vt:lpwstr>258ac4e4-146a-411e-9dc8-79a9e12fd6da</vt:lpwstr>
  </property>
  <property fmtid="{D5CDD505-2E9C-101B-9397-08002B2CF9AE}" pid="7" name="MSIP_Label_a8c544ca-bb84-4280-906e-934547e1d30c_ActionId">
    <vt:lpwstr>8a83d0fd-4917-4c13-acfc-19f997510efa</vt:lpwstr>
  </property>
  <property fmtid="{D5CDD505-2E9C-101B-9397-08002B2CF9AE}" pid="8" name="MSIP_Label_a8c544ca-bb84-4280-906e-934547e1d30c_ContentBits">
    <vt:lpwstr>2</vt:lpwstr>
  </property>
  <property fmtid="{D5CDD505-2E9C-101B-9397-08002B2CF9AE}" pid="9" name="MSIP_Label_a8c544ca-bb84-4280-906e-934547e1d30c_Tag">
    <vt:lpwstr>10, 0, 1, 2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Internal - General Use</vt:lpwstr>
  </property>
</Properties>
</file>