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g"/><Relationship Id="rId2" Type="http://schemas.openxmlformats.org/officeDocument/2006/relationships/image" Target="../media/image-10-2.jpg"/><Relationship Id="rId3" Type="http://schemas.openxmlformats.org/officeDocument/2006/relationships/image" Target="../media/image-10-3.jpg"/><Relationship Id="rId4" Type="http://schemas.openxmlformats.org/officeDocument/2006/relationships/image" Target="../media/image-10-4.jp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1645920"/>
            <a:ext cx="5029200" cy="5029200"/>
          </a:xfrm>
          <a:prstGeom prst="ellipse">
            <a:avLst/>
          </a:prstGeom>
          <a:solidFill>
            <a:srgbClr val="1A2348">
              <a:alpha val="65000"/>
            </a:srgbClr>
          </a:solidFill>
          <a:ln w="19050">
            <a:solidFill>
              <a:srgbClr val="5B7FE8">
                <a:alpha val="4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1463040" y="4206240"/>
            <a:ext cx="3840480" cy="3840480"/>
          </a:xfrm>
          <a:prstGeom prst="ellipse">
            <a:avLst/>
          </a:prstGeom>
          <a:ln w="25400">
            <a:solidFill>
              <a:srgbClr val="34D6B5">
                <a:alpha val="55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9659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ADCFC"/>
                </a:solidFill>
              </a:rPr>
              <a:t>WIPRO CAPSTONE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2377440"/>
            <a:ext cx="82296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AppVerse AI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822960" y="34290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App Marketplace &amp; Review Intelligence Platform</a:t>
            </a:r>
            <a:endParaRPr lang="en-US" sz="2000" dirty="0"/>
          </a:p>
        </p:txBody>
      </p:sp>
      <p:sp>
        <p:nvSpPr>
          <p:cNvPr id="7" name="Shape 5"/>
          <p:cNvSpPr/>
          <p:nvPr/>
        </p:nvSpPr>
        <p:spPr>
          <a:xfrm>
            <a:off x="822960" y="3977640"/>
            <a:ext cx="1005840" cy="0"/>
          </a:xfrm>
          <a:prstGeom prst="line">
            <a:avLst/>
          </a:prstGeom>
          <a:noFill/>
          <a:ln w="38100">
            <a:solidFill>
              <a:srgbClr val="34D6B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160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FB0E8"/>
                </a:solidFill>
              </a:rPr>
              <a:t>Full-Stack Capstone Project · Spring Boot &amp; React · Google Gemini AI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59893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</a:rPr>
              <a:t>Gopidi Anugna Reddy   |   Mentor: Javeed Sir   |   Great Learning · Wipro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6309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C9AE8"/>
                </a:solidFill>
              </a:rPr>
              <a:t>June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&amp; Objectives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34440"/>
            <a:ext cx="54864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AppVerse AI is a full-stack app marketplace where users discover and review apps, developers publish listings, and admins moderate content — enhanced with real Google Gemini AI for sentiment analysis, conversational recommendations, and fake-review detection.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2880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2348"/>
                </a:solidFill>
              </a:rPr>
              <a:t>Key Objectives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3291840"/>
            <a:ext cx="54864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JWT auth strengthened with Gmail OTP verification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Gemini AI integration: sentiment, chatbot, recommendations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moderation workflow for apps and reviews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/ Factory / Observer / Facade design patterns</a:t>
            </a:r>
            <a:endParaRPr lang="en-US" sz="1300" dirty="0"/>
          </a:p>
          <a:p>
            <a:pPr marL="342900" indent="-342900">
              <a:lnSpc>
                <a:spcPct val="125000"/>
              </a:lnSpc>
              <a:buSzPct val="100000"/>
              <a:buChar char="▪"/>
            </a:pPr>
            <a:r>
              <a:rPr lang="en-US" sz="1300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experiences for User, Developer, and Admin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0" y="128016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675120" y="14447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5B7FE8"/>
                </a:solidFill>
              </a:rPr>
              <a:t>USER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675120" y="184708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Browse, download, review, chat with AppBot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0" y="297180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675120" y="313639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6B5"/>
                </a:solidFill>
              </a:rPr>
              <a:t>DEVELOPER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675120" y="353872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Publish apps, manage versions, view analytics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4663440"/>
            <a:ext cx="5212080" cy="1417320"/>
          </a:xfrm>
          <a:prstGeom prst="roundRect">
            <a:avLst>
              <a:gd name="adj" fmla="val 5161"/>
            </a:avLst>
          </a:prstGeom>
          <a:solidFill>
            <a:srgbClr val="F4F7FC"/>
          </a:solidFill>
          <a:ln/>
          <a:effectLst>
            <a:outerShdw sx="100000" sy="100000" kx="0" ky="0" algn="bl" rotWithShape="0" blurRad="76200" dist="25400" dir="27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482803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87C24"/>
                </a:solidFill>
              </a:rPr>
              <a:t>ADMIN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75120" y="5230368"/>
            <a:ext cx="4663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F2A44"/>
                </a:solidFill>
              </a:rPr>
              <a:t>Approve apps, moderate flagged reviews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3000" dirty="0"/>
          </a:p>
        </p:txBody>
      </p:sp>
      <p:pic>
        <p:nvPicPr>
          <p:cNvPr id="4" name="Image 0" descr="/home/claude/appverse_doc/diagrams/architecture_diagr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33345" y="1234440"/>
            <a:ext cx="7294829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3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Entity-Relationship Diagram</a:t>
            </a:r>
            <a:endParaRPr lang="en-US" sz="3000" dirty="0"/>
          </a:p>
        </p:txBody>
      </p:sp>
      <p:pic>
        <p:nvPicPr>
          <p:cNvPr id="4" name="Image 0" descr="/home/claude/appverse_doc/diagrams/er_diagr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3333" y="1188720"/>
            <a:ext cx="7974854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4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OBJECT-ORIENTED DESIGN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UML Class Diagram</a:t>
            </a:r>
            <a:endParaRPr lang="en-US" sz="3000" dirty="0"/>
          </a:p>
        </p:txBody>
      </p:sp>
      <p:pic>
        <p:nvPicPr>
          <p:cNvPr id="4" name="Image 0" descr="/home/claude/appverse_doc/diagrams/uml_class_diagr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83908" y="1188720"/>
            <a:ext cx="8393705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5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MODELLING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Diagram</a:t>
            </a:r>
            <a:endParaRPr lang="en-US" sz="3000" dirty="0"/>
          </a:p>
        </p:txBody>
      </p:sp>
      <p:pic>
        <p:nvPicPr>
          <p:cNvPr id="4" name="Image 0" descr="/home/claude/appverse_doc/diagrams/use_case_diagr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41578" y="1188720"/>
            <a:ext cx="7678364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6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ARTIFICIAL INTELLIGENCE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Features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457200" cy="457200"/>
          </a:xfrm>
          <a:prstGeom prst="ellipse">
            <a:avLst/>
          </a:prstGeom>
          <a:solidFill>
            <a:srgbClr val="5B7FE8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4630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325880" y="141732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Sentiment &amp; Fake-Review Detection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325880" y="180136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2E3"/>
                </a:solidFill>
              </a:rPr>
              <a:t>Every review is classified POSITIVE / NEUTRAL / NEGATIVE, given a predicted rating, and screened for fake-review patterns before going live.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2880360"/>
            <a:ext cx="457200" cy="457200"/>
          </a:xfrm>
          <a:prstGeom prst="ellipse">
            <a:avLst/>
          </a:prstGeom>
          <a:solidFill>
            <a:srgbClr val="5B7FE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8803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325880" y="283464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AppBot Conversational Assistant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325880" y="321868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2E3"/>
                </a:solidFill>
              </a:rPr>
              <a:t>A Gemini-powered chat widget answers natural-language questions and recommends apps with direct links, available across the marketplace.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4297680"/>
            <a:ext cx="457200" cy="457200"/>
          </a:xfrm>
          <a:prstGeom prst="ellipse">
            <a:avLst/>
          </a:prstGeom>
          <a:solidFill>
            <a:srgbClr val="5B7FE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42976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325880" y="4251960"/>
            <a:ext cx="9875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Strategy-Based Recommendations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325880" y="4636008"/>
            <a:ext cx="9966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D2E3"/>
                </a:solidFill>
              </a:rPr>
              <a:t>Switches between Trending and Top-Rated strategies depending on a user's download history, avoiding cold-start problems for new users.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7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FLOW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Workflow Sequences</a:t>
            </a:r>
            <a:endParaRPr lang="en-US" sz="3000" dirty="0"/>
          </a:p>
        </p:txBody>
      </p:sp>
      <p:pic>
        <p:nvPicPr>
          <p:cNvPr id="4" name="Image 0" descr="/home/claude/appverse_doc/diagrams/workflow_diagram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795474" y="1188720"/>
            <a:ext cx="6570572" cy="5212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8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&amp; AppBot AI Assistant</a:t>
            </a:r>
            <a:endParaRPr lang="en-US" sz="3000" dirty="0"/>
          </a:p>
        </p:txBody>
      </p:sp>
      <p:pic>
        <p:nvPicPr>
          <p:cNvPr id="4" name="Image 0" descr="/home/claude/appverse_doc/screenshots/resized/shot_marketplac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371600"/>
            <a:ext cx="5284623" cy="27432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41879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Marketplace category browsing</a:t>
            </a:r>
            <a:endParaRPr lang="en-US" sz="1100" dirty="0"/>
          </a:p>
        </p:txBody>
      </p:sp>
      <p:pic>
        <p:nvPicPr>
          <p:cNvPr id="6" name="Image 1" descr="/home/claude/appverse_doc/screenshots/resized/shot_chatbo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4617796" cy="5029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92240" y="626364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AppBot AI assistant (Gemini-powered)</a:t>
            </a:r>
            <a:endParaRPr lang="en-US" sz="1100" dirty="0"/>
          </a:p>
        </p:txBody>
      </p:sp>
      <p:sp>
        <p:nvSpPr>
          <p:cNvPr id="8" name="Text 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9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5B7F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WALKTHROUGH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2A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Developer Console &amp; Admin Approval</a:t>
            </a:r>
            <a:endParaRPr lang="en-US" sz="3000" dirty="0"/>
          </a:p>
        </p:txBody>
      </p:sp>
      <p:pic>
        <p:nvPicPr>
          <p:cNvPr id="4" name="Image 0" descr="/home/claude/appverse_doc/screenshots/resized/shot_devconsole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280160"/>
            <a:ext cx="4851918" cy="23774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3730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Developer Console — My Apps</a:t>
            </a:r>
            <a:endParaRPr lang="en-US" sz="1100" dirty="0"/>
          </a:p>
        </p:txBody>
      </p:sp>
      <p:pic>
        <p:nvPicPr>
          <p:cNvPr id="6" name="Image 1" descr="/home/claude/appverse_doc/screenshots/resized/shot_adminapproval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920" y="1280160"/>
            <a:ext cx="4754880" cy="237744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217920" y="3730752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Admin Dashboard — pending approval</a:t>
            </a:r>
            <a:endParaRPr lang="en-US" sz="1100" dirty="0"/>
          </a:p>
        </p:txBody>
      </p:sp>
      <p:pic>
        <p:nvPicPr>
          <p:cNvPr id="8" name="Image 2" descr="/home/claude/appverse_doc/screenshots/resized/shot_devtrend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160520"/>
            <a:ext cx="4257524" cy="21945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548640" y="6409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Developer Analytics — downloads trend</a:t>
            </a:r>
            <a:endParaRPr lang="en-US" sz="1100" dirty="0"/>
          </a:p>
        </p:txBody>
      </p:sp>
      <p:pic>
        <p:nvPicPr>
          <p:cNvPr id="10" name="Image 3" descr="/home/claude/appverse_doc/screenshots/resized/shot_analytics1.jp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4160520"/>
            <a:ext cx="4183737" cy="219456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17920" y="6409944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</a:rPr>
              <a:t>Platform analytics — revenue &amp; engagement</a:t>
            </a:r>
            <a:endParaRPr lang="en-US" sz="1100" dirty="0"/>
          </a:p>
        </p:txBody>
      </p:sp>
      <p:sp>
        <p:nvSpPr>
          <p:cNvPr id="12" name="Text 6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10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5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16459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4D6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41148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Tech Stack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A2348"/>
          </a:solidFill>
          <a:ln w="12700">
            <a:solidFill>
              <a:srgbClr val="5B7FE8">
                <a:alpha val="7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React 18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337560" y="13716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A2348"/>
          </a:solidFill>
          <a:ln w="12700">
            <a:solidFill>
              <a:srgbClr val="5B7FE8">
                <a:alpha val="7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33756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Spring Boot 3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035040" y="13716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A2348"/>
          </a:solidFill>
          <a:ln w="12700">
            <a:solidFill>
              <a:srgbClr val="5B7FE8">
                <a:alpha val="7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3504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Spring Security + JWT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8732520" y="13716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A2348"/>
          </a:solidFill>
          <a:ln w="12700">
            <a:solidFill>
              <a:srgbClr val="5B7FE8">
                <a:alpha val="7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32520" y="13716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Spring Data JPA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40080" y="20574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A2348"/>
          </a:solidFill>
          <a:ln w="12700">
            <a:solidFill>
              <a:srgbClr val="5B7FE8">
                <a:alpha val="7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MySQL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37560" y="20574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A2348"/>
          </a:solidFill>
          <a:ln w="12700">
            <a:solidFill>
              <a:srgbClr val="5B7FE8">
                <a:alpha val="7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3756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Google Gemini API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035040" y="20574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A2348"/>
          </a:solidFill>
          <a:ln w="12700">
            <a:solidFill>
              <a:srgbClr val="5B7FE8">
                <a:alpha val="7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3504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Gmail SMTP (OTP)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732520" y="2057400"/>
            <a:ext cx="2468880" cy="502920"/>
          </a:xfrm>
          <a:prstGeom prst="roundRect">
            <a:avLst>
              <a:gd name="adj" fmla="val 10909"/>
            </a:avLst>
          </a:prstGeom>
          <a:solidFill>
            <a:srgbClr val="1A2348"/>
          </a:solidFill>
          <a:ln w="12700">
            <a:solidFill>
              <a:srgbClr val="5B7FE8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32520" y="205740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FFFFFF"/>
                </a:solidFill>
              </a:rPr>
              <a:t>Maven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640080" y="3108960"/>
            <a:ext cx="10881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C9D2E3"/>
                </a:solidFill>
              </a:rPr>
              <a:t>AppVerse AI demonstrates a complete, working marketplace with real generative-AI features embedded into its core workflows — sentiment-aware reviews, conversational recommendations, and a clean, pattern-driven backend.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640080" y="4160520"/>
            <a:ext cx="10881360" cy="0"/>
          </a:xfrm>
          <a:prstGeom prst="line">
            <a:avLst/>
          </a:prstGeom>
          <a:noFill/>
          <a:ln w="12700">
            <a:solidFill>
              <a:srgbClr val="5B7FE8">
                <a:alpha val="5000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3891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D6B5"/>
                </a:solidFill>
              </a:rPr>
              <a:t>Submitted By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0080" y="47091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Gopidi Anugna Reddy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40080" y="51206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D2E3"/>
                </a:solidFill>
              </a:rPr>
              <a:t>Under Guidance of Javeed Sir  |  Great Learning  |  Wipro Capstone Project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0080" y="5486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C9AE8"/>
                </a:solidFill>
              </a:rPr>
              <a:t>Version 1.0.0  ·  June 2026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1521440" y="644652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4748B"/>
                </a:solidFill>
              </a:rPr>
              <a:t>11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AppVerse AI - Technical Overview</dc:title>
  <dc:subject>PptxGenJS Presentation</dc:subject>
  <dc:creator>Gopidi Anugna Reddy</dc:creator>
  <cp:lastModifiedBy>Gopidi Anugna Reddy</cp:lastModifiedBy>
  <cp:revision>1</cp:revision>
  <dcterms:created xsi:type="dcterms:W3CDTF">2026-06-18T01:53:48Z</dcterms:created>
  <dcterms:modified xsi:type="dcterms:W3CDTF">2026-06-18T01:53:48Z</dcterms:modified>
</cp:coreProperties>
</file>